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embeddedFontLst>
    <p:embeddedFont>
      <p:font typeface="Inter" panose="02000503000000020004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193D139-29A7-4DF5-9D53-D63FF799B9F5}">
  <a:tblStyle styleId="{4193D139-29A7-4DF5-9D53-D63FF799B9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3AE409C-AB70-4F21-A523-42B215FE775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2"/>
  </p:normalViewPr>
  <p:slideViewPr>
    <p:cSldViewPr snapToGrid="0">
      <p:cViewPr varScale="1">
        <p:scale>
          <a:sx n="150" d="100"/>
          <a:sy n="150" d="100"/>
        </p:scale>
        <p:origin x="712" y="1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af67d18b7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af67d18b7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2caf33cf3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2caf33cf3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2caf33cf3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2caf33cf3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af67d18b75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af67d18b75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af67d18b75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af67d18b75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af67d18b75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af67d18b75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af67d18b75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af67d18b75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af67d18b75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af67d18b75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af67d18b75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af67d18b75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af67d18b75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af67d18b75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2c6f2d0f2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2c6f2d0f2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af67d18b75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af67d18b75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af67d18b75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af67d18b75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2caf33cf30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2caf33cf30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af67d18b75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af67d18b75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af67d18b75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af67d18b75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af67d18b75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af67d18b75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2cfcd46f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2cfcd46f1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Theme" type="title">
  <p:cSld name="TITLE">
    <p:bg>
      <p:bgPr>
        <a:gradFill>
          <a:gsLst>
            <a:gs pos="0">
              <a:srgbClr val="FFFFFF"/>
            </a:gs>
            <a:gs pos="24000">
              <a:srgbClr val="E6E6E6"/>
            </a:gs>
            <a:gs pos="63000">
              <a:srgbClr val="F3F3F3"/>
            </a:gs>
            <a:gs pos="78000">
              <a:srgbClr val="D9D9D9"/>
            </a:gs>
            <a:gs pos="94000">
              <a:srgbClr val="B9B9B9"/>
            </a:gs>
            <a:gs pos="100000">
              <a:srgbClr val="999999"/>
            </a:gs>
          </a:gsLst>
          <a:lin ang="2700006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FFFFFF"/>
            </a:gs>
            <a:gs pos="24000">
              <a:srgbClr val="E6E6E6"/>
            </a:gs>
            <a:gs pos="63000">
              <a:srgbClr val="F3F3F3"/>
            </a:gs>
            <a:gs pos="78000">
              <a:srgbClr val="D9D9D9"/>
            </a:gs>
            <a:gs pos="94000">
              <a:srgbClr val="B9B9B9"/>
            </a:gs>
            <a:gs pos="100000">
              <a:srgbClr val="999999"/>
            </a:gs>
          </a:gsLst>
          <a:lin ang="2700006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nter"/>
              <a:buChar char="●"/>
              <a:defRPr sz="18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●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○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Inter"/>
              <a:buChar char="■"/>
              <a:defRPr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24000">
              <a:srgbClr val="E6E6E6"/>
            </a:gs>
            <a:gs pos="63000">
              <a:srgbClr val="F3F3F3"/>
            </a:gs>
            <a:gs pos="78000">
              <a:srgbClr val="D9D9D9"/>
            </a:gs>
            <a:gs pos="94000">
              <a:srgbClr val="B9B9B9"/>
            </a:gs>
            <a:gs pos="100000">
              <a:srgbClr val="999999"/>
            </a:gs>
          </a:gsLst>
          <a:lin ang="2700006" scaled="0"/>
        </a:gra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73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/>
              <a:t>MAXGBoost: A Fast Novel Heuristic Approach to Adaptive Learning Rates in Gradient Boosted Decision Trees</a:t>
            </a:r>
            <a:endParaRPr sz="300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30627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 dirty="0"/>
              <a:t>By: Anirudh </a:t>
            </a:r>
            <a:r>
              <a:rPr lang="en" sz="2300" dirty="0" err="1"/>
              <a:t>Chintaluri</a:t>
            </a:r>
            <a:r>
              <a:rPr lang="en" sz="2300" dirty="0"/>
              <a:t>, Vini </a:t>
            </a:r>
            <a:r>
              <a:rPr lang="en" sz="2300" dirty="0" err="1"/>
              <a:t>Rezanejad</a:t>
            </a:r>
            <a:endParaRPr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Fundamentals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302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GBDTs initialize with a decision tree that's evaluated using a loss function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The model minimizes loss by moving in the direction of the negative gradient</a:t>
            </a:r>
            <a:endParaRPr sz="1900"/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This process is similar to neural networks' backpropagation, but creates an ensemble decision tree model</a:t>
            </a:r>
            <a:endParaRPr sz="1900"/>
          </a:p>
        </p:txBody>
      </p:sp>
      <p:pic>
        <p:nvPicPr>
          <p:cNvPr id="62" name="Google Shape;62;p14" descr="Structure of the gradient boosting decision trees | Download Scientific  Diagram"/>
          <p:cNvPicPr preferRelativeResize="0"/>
          <p:nvPr/>
        </p:nvPicPr>
        <p:blipFill rotWithShape="1">
          <a:blip r:embed="rId3">
            <a:alphaModFix/>
          </a:blip>
          <a:srcRect l="-16215" t="-12656" r="-9097" b="-12656"/>
          <a:stretch/>
        </p:blipFill>
        <p:spPr>
          <a:xfrm>
            <a:off x="3881975" y="1152475"/>
            <a:ext cx="5525016" cy="324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Rate Mechanics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algorithm adds new decision trees scaled by a learning rate (η)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Learning rate determines how far down the loss function the tree will go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 η ensures convergence but requires more iterations and computational cost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High η speeds up convergence but risks overshooting the optimal solution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0275" y="2858650"/>
            <a:ext cx="5103444" cy="22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Rate Optimization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328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Optimal learning rate depends on both dataset and loss function</a:t>
            </a:r>
            <a:endParaRPr sz="2000"/>
          </a:p>
          <a:p>
            <a:pPr marL="457200" lvl="0" indent="-355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Tuning requires iterative experimentation</a:t>
            </a:r>
            <a:endParaRPr sz="2000"/>
          </a:p>
          <a:p>
            <a:pPr marL="457200" lvl="0" indent="-355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Adaptive strategies help reduce need for extensive hyperparameter searches</a:t>
            </a:r>
            <a:endParaRPr sz="2000"/>
          </a:p>
          <a:p>
            <a:pPr marL="457200" lvl="0" indent="-355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Particularly important for datasets with high sparsity</a:t>
            </a:r>
            <a:endParaRPr sz="2000"/>
          </a:p>
        </p:txBody>
      </p:sp>
      <p:pic>
        <p:nvPicPr>
          <p:cNvPr id="76" name="Google Shape;76;p16" descr="Difference between GridSearchCV and RandomizedSearchCV - 360DigiTM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3297" y="1799414"/>
            <a:ext cx="4065900" cy="2122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MAXGBoost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184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Momentum Approximation XGBoost dynamically adjusts learning rate based on loss momentum</a:t>
            </a:r>
            <a:endParaRPr sz="2000"/>
          </a:p>
          <a:p>
            <a:pPr marL="457200" lvl="0" indent="-355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Enables faster convergence</a:t>
            </a:r>
            <a:endParaRPr sz="2000"/>
          </a:p>
          <a:p>
            <a:pPr marL="457200" lvl="0" indent="-355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Reduces need for manual optimization while maintaining high detection accuracy</a:t>
            </a:r>
            <a:endParaRPr sz="2000"/>
          </a:p>
        </p:txBody>
      </p:sp>
      <p:pic>
        <p:nvPicPr>
          <p:cNvPr id="83" name="Google Shape;83;p17" descr="Clustered Federated Learning Based on Momentum Gradient Descent for  Heterogeneous Data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935275"/>
            <a:ext cx="4488550" cy="385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Dataset</a:t>
            </a:r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286475"/>
            <a:ext cx="5385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Credit Card Fraud Detection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284,807 total instances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31 total attributes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Notable Features: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Time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Amount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V1-V38 -&gt; Result of PCA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492 instances marked as fraud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&lt; 0.2% of data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Dataset already preprocessed</a:t>
            </a:r>
            <a:endParaRPr sz="1800"/>
          </a:p>
        </p:txBody>
      </p:sp>
      <p:grpSp>
        <p:nvGrpSpPr>
          <p:cNvPr id="90" name="Google Shape;90;p18"/>
          <p:cNvGrpSpPr/>
          <p:nvPr/>
        </p:nvGrpSpPr>
        <p:grpSpPr>
          <a:xfrm>
            <a:off x="5172260" y="1499335"/>
            <a:ext cx="3394656" cy="2418692"/>
            <a:chOff x="1976400" y="1890000"/>
            <a:chExt cx="4320000" cy="3078000"/>
          </a:xfrm>
        </p:grpSpPr>
        <p:sp>
          <p:nvSpPr>
            <p:cNvPr id="91" name="Google Shape;91;p18"/>
            <p:cNvSpPr/>
            <p:nvPr/>
          </p:nvSpPr>
          <p:spPr>
            <a:xfrm>
              <a:off x="1976400" y="1890000"/>
              <a:ext cx="4320000" cy="3078000"/>
            </a:xfrm>
            <a:prstGeom prst="roundRect">
              <a:avLst>
                <a:gd name="adj" fmla="val 14737"/>
              </a:avLst>
            </a:prstGeom>
            <a:solidFill>
              <a:srgbClr val="0B53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8"/>
            <p:cNvSpPr/>
            <p:nvPr/>
          </p:nvSpPr>
          <p:spPr>
            <a:xfrm>
              <a:off x="1976400" y="2387400"/>
              <a:ext cx="4320000" cy="345600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8"/>
            <p:cNvSpPr/>
            <p:nvPr/>
          </p:nvSpPr>
          <p:spPr>
            <a:xfrm>
              <a:off x="2311200" y="3505200"/>
              <a:ext cx="496800" cy="345600"/>
            </a:xfrm>
            <a:prstGeom prst="roundRect">
              <a:avLst>
                <a:gd name="adj" fmla="val 16667"/>
              </a:avLst>
            </a:pr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8"/>
            <p:cNvSpPr/>
            <p:nvPr/>
          </p:nvSpPr>
          <p:spPr>
            <a:xfrm>
              <a:off x="5313600" y="4257650"/>
              <a:ext cx="472800" cy="472800"/>
            </a:xfrm>
            <a:prstGeom prst="ellipse">
              <a:avLst/>
            </a:prstGeom>
            <a:solidFill>
              <a:srgbClr val="FF0000">
                <a:alpha val="8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8"/>
            <p:cNvSpPr/>
            <p:nvPr/>
          </p:nvSpPr>
          <p:spPr>
            <a:xfrm>
              <a:off x="5598055" y="4257650"/>
              <a:ext cx="472800" cy="472800"/>
            </a:xfrm>
            <a:prstGeom prst="ellipse">
              <a:avLst/>
            </a:prstGeom>
            <a:solidFill>
              <a:srgbClr val="FF9900">
                <a:alpha val="8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Algorithm - Traditional Neural Network</a:t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9850" y="1687988"/>
            <a:ext cx="4944300" cy="197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Algorithm - Neural Network with Momentum</a:t>
            </a: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9675" y="1758675"/>
            <a:ext cx="4342150" cy="211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>
            <a:spLocks noGrp="1"/>
          </p:cNvSpPr>
          <p:nvPr>
            <p:ph type="body" idx="1"/>
          </p:nvPr>
        </p:nvSpPr>
        <p:spPr>
          <a:xfrm>
            <a:off x="387900" y="1758675"/>
            <a:ext cx="3616500" cy="28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 = velocity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β = how influential past velocities are on the new velocity calculated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Converges faster than with a constant learning rate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Algorithm - MAXGBoost</a:t>
            </a:r>
            <a:endParaRPr/>
          </a:p>
        </p:txBody>
      </p:sp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5100" y="1947975"/>
            <a:ext cx="4429326" cy="161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>
            <a:spLocks noGrp="1"/>
          </p:cNvSpPr>
          <p:nvPr>
            <p:ph type="body" idx="1"/>
          </p:nvPr>
        </p:nvSpPr>
        <p:spPr>
          <a:xfrm>
            <a:off x="387900" y="1479325"/>
            <a:ext cx="3787200" cy="299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Combines GBDT and momentum-based updates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Approximates ∇ 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momentum to update the </a:t>
            </a:r>
            <a:r>
              <a:rPr lang="en" b="1"/>
              <a:t>learning rate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Loss increase = η increase</a:t>
            </a:r>
            <a:endParaRPr sz="1800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Loss decrease = η decrease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Experiments - Dataset</a:t>
            </a:r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body" idx="1"/>
          </p:nvPr>
        </p:nvSpPr>
        <p:spPr>
          <a:xfrm>
            <a:off x="819325" y="1626225"/>
            <a:ext cx="3787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u="sng"/>
              <a:t>Splits</a:t>
            </a:r>
            <a:endParaRPr sz="2100" u="sng"/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68%: Training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12%: Validation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20%: Testing</a:t>
            </a:r>
            <a:endParaRPr sz="2000"/>
          </a:p>
        </p:txBody>
      </p:sp>
      <p:sp>
        <p:nvSpPr>
          <p:cNvPr id="122" name="Google Shape;122;p22"/>
          <p:cNvSpPr txBox="1">
            <a:spLocks noGrp="1"/>
          </p:cNvSpPr>
          <p:nvPr>
            <p:ph type="body" idx="1"/>
          </p:nvPr>
        </p:nvSpPr>
        <p:spPr>
          <a:xfrm>
            <a:off x="4880100" y="1626225"/>
            <a:ext cx="3787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u="sng"/>
              <a:t>Analysis</a:t>
            </a:r>
            <a:endParaRPr sz="2100" u="sng"/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5-fold Cross-validation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Results based on best fold per model</a:t>
            </a:r>
            <a:endParaRPr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Experiments - Models</a:t>
            </a:r>
            <a:endParaRPr/>
          </a:p>
        </p:txBody>
      </p:sp>
      <p:graphicFrame>
        <p:nvGraphicFramePr>
          <p:cNvPr id="128" name="Google Shape;128;p23"/>
          <p:cNvGraphicFramePr/>
          <p:nvPr/>
        </p:nvGraphicFramePr>
        <p:xfrm>
          <a:off x="876300" y="1745375"/>
          <a:ext cx="7449200" cy="2194410"/>
        </p:xfrm>
        <a:graphic>
          <a:graphicData uri="http://schemas.openxmlformats.org/drawingml/2006/table">
            <a:tbl>
              <a:tblPr>
                <a:noFill/>
                <a:tableStyleId>{4193D139-29A7-4DF5-9D53-D63FF799B9F5}</a:tableStyleId>
              </a:tblPr>
              <a:tblGrid>
                <a:gridCol w="317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Decision Tree</a:t>
                      </a:r>
                      <a:endParaRPr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Single Decision Tree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Random Forest</a:t>
                      </a:r>
                      <a:endParaRPr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Ensemble Voting Decision Tree Model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Constant η XGBoost</a:t>
                      </a:r>
                      <a:endParaRPr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XGBoost with a constant learning rate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Exponential Decay XGBoost</a:t>
                      </a:r>
                      <a:endParaRPr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XGBoost with a learning rate multiplied by constant every iteration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MAXGBoost</a:t>
                      </a:r>
                      <a:endParaRPr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XGBoost with Momentum Approximation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Experiments - Hyperparameters</a:t>
            </a:r>
            <a:endParaRPr/>
          </a:p>
        </p:txBody>
      </p:sp>
      <p:graphicFrame>
        <p:nvGraphicFramePr>
          <p:cNvPr id="134" name="Google Shape;134;p24"/>
          <p:cNvGraphicFramePr/>
          <p:nvPr/>
        </p:nvGraphicFramePr>
        <p:xfrm>
          <a:off x="876300" y="1745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{4193D139-29A7-4DF5-9D53-D63FF799B9F5}</a:tableStyleId>
              </a:tblPr>
              <a:tblGrid>
                <a:gridCol w="3178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00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Decision Tree</a:t>
                      </a:r>
                      <a:endParaRPr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Max Depth </a:t>
                      </a: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= 4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Random Forest</a:t>
                      </a:r>
                      <a:endParaRPr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Estimators </a:t>
                      </a: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= 5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Constant η XGBoost</a:t>
                      </a:r>
                      <a:endParaRPr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Estimators</a:t>
                      </a: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 = 423, </a:t>
                      </a:r>
                      <a:r>
                        <a:rPr lang="en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η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= 0.08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Exponential Decay XGBoost</a:t>
                      </a:r>
                      <a:endParaRPr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Estimators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= 423, </a:t>
                      </a:r>
                      <a:r>
                        <a:rPr lang="en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x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= 0.9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latin typeface="Inter"/>
                          <a:ea typeface="Inter"/>
                          <a:cs typeface="Inter"/>
                          <a:sym typeface="Inter"/>
                        </a:rPr>
                        <a:t>MAXGBoost</a:t>
                      </a:r>
                      <a:endParaRPr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Estimators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= 423, </a:t>
                      </a:r>
                      <a:r>
                        <a:rPr lang="en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Initial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η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= 0.89, </a:t>
                      </a:r>
                      <a:r>
                        <a:rPr lang="en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β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= 0.99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graphicFrame>
        <p:nvGraphicFramePr>
          <p:cNvPr id="140" name="Google Shape;140;p25"/>
          <p:cNvGraphicFramePr/>
          <p:nvPr/>
        </p:nvGraphicFramePr>
        <p:xfrm>
          <a:off x="471975" y="174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{43AE409C-AB70-4F21-A523-42B215FE7757}</a:tableStyleId>
              </a:tblPr>
              <a:tblGrid>
                <a:gridCol w="2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7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6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44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Model</a:t>
                      </a:r>
                      <a:endParaRPr sz="1800"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52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Accuracy</a:t>
                      </a:r>
                      <a:endParaRPr sz="1800"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52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Precision</a:t>
                      </a:r>
                      <a:endParaRPr sz="1800"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52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Recall</a:t>
                      </a:r>
                      <a:endParaRPr sz="1800"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52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AUC</a:t>
                      </a:r>
                      <a:endParaRPr sz="1800" b="1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1252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4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Decision Tree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52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0.99946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52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0.86813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52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0.80612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52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0.90296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1252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Random Forest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0.99951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0.77000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0.93902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0.96931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4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Constant η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0.99977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0.88636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0.96296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0.98139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4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Exponential decay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0.99979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0.88764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0.97531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0.98757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4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MAXGBoost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0.99980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 b="1">
                          <a:latin typeface="Inter"/>
                          <a:ea typeface="Inter"/>
                          <a:cs typeface="Inter"/>
                          <a:sym typeface="Inter"/>
                        </a:rPr>
                        <a:t>0.93827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0.92683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Inter"/>
                          <a:ea typeface="Inter"/>
                          <a:cs typeface="Inter"/>
                          <a:sym typeface="Inter"/>
                        </a:rPr>
                        <a:t>0.96337</a:t>
                      </a:r>
                      <a:endParaRPr sz="1700"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25400" marR="25400" marT="25400" marB="25400" anchor="b">
                    <a:lnL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9999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- MAXGBoost Strengths</a:t>
            </a:r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 b="1"/>
              <a:t>Best Precision</a:t>
            </a:r>
            <a:r>
              <a:rPr lang="en" sz="2400"/>
              <a:t> in Fraud Detection</a:t>
            </a:r>
            <a:endParaRPr sz="24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Exceptional performance in minimizing false positives</a:t>
            </a:r>
            <a:endParaRPr sz="2000"/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Effective for high-stakes financial environments</a:t>
            </a:r>
            <a:endParaRPr sz="2000"/>
          </a:p>
          <a:p>
            <a:pPr marL="1371600" lvl="2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Reduces customer friction from false alerts</a:t>
            </a:r>
            <a:endParaRPr sz="2000"/>
          </a:p>
          <a:p>
            <a:pPr marL="1371600" lvl="2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" sz="2000"/>
              <a:t>Minimizes operational costs from investigation overhead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- MAXGBoost Limitations</a:t>
            </a:r>
            <a:endParaRPr/>
          </a:p>
        </p:txBody>
      </p:sp>
      <p:sp>
        <p:nvSpPr>
          <p:cNvPr id="152" name="Google Shape;15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1475" algn="l" rtl="0">
              <a:spcBef>
                <a:spcPts val="0"/>
              </a:spcBef>
              <a:spcAft>
                <a:spcPts val="0"/>
              </a:spcAft>
              <a:buSzPts val="2250"/>
              <a:buChar char="●"/>
            </a:pPr>
            <a:r>
              <a:rPr lang="en" sz="2250"/>
              <a:t>Relatively low AUC for Fraud Detection</a:t>
            </a:r>
            <a:endParaRPr sz="2250"/>
          </a:p>
          <a:p>
            <a:pPr marL="914400" lvl="1" indent="-371475" algn="l" rtl="0">
              <a:spcBef>
                <a:spcPts val="0"/>
              </a:spcBef>
              <a:spcAft>
                <a:spcPts val="0"/>
              </a:spcAft>
              <a:buSzPts val="2250"/>
              <a:buChar char="○"/>
            </a:pPr>
            <a:r>
              <a:rPr lang="en" sz="2250" b="1"/>
              <a:t>Rapid </a:t>
            </a:r>
            <a:r>
              <a:rPr lang="en" sz="2250"/>
              <a:t>learning rate</a:t>
            </a:r>
            <a:r>
              <a:rPr lang="en" sz="2250" b="1"/>
              <a:t> decrease</a:t>
            </a:r>
            <a:r>
              <a:rPr lang="en" sz="2250"/>
              <a:t> with small loss improvements</a:t>
            </a:r>
            <a:endParaRPr sz="2250"/>
          </a:p>
          <a:p>
            <a:pPr marL="914400" lvl="1" indent="-371475" algn="l" rtl="0">
              <a:spcBef>
                <a:spcPts val="0"/>
              </a:spcBef>
              <a:spcAft>
                <a:spcPts val="0"/>
              </a:spcAft>
              <a:buSzPts val="2250"/>
              <a:buChar char="○"/>
            </a:pPr>
            <a:r>
              <a:rPr lang="en" sz="2250" b="1"/>
              <a:t>Limited exploration of feature space</a:t>
            </a:r>
            <a:endParaRPr sz="2250" b="1"/>
          </a:p>
          <a:p>
            <a:pPr marL="914400" lvl="1" indent="-371475" algn="l" rtl="0">
              <a:spcBef>
                <a:spcPts val="0"/>
              </a:spcBef>
              <a:spcAft>
                <a:spcPts val="0"/>
              </a:spcAft>
              <a:buSzPts val="2250"/>
              <a:buChar char="○"/>
            </a:pPr>
            <a:r>
              <a:rPr lang="en" sz="2250"/>
              <a:t>Over-emphasis on strongly discriminative features</a:t>
            </a:r>
            <a:endParaRPr sz="2250"/>
          </a:p>
          <a:p>
            <a:pPr marL="914400" lvl="1" indent="-371475" algn="l" rtl="0">
              <a:spcBef>
                <a:spcPts val="0"/>
              </a:spcBef>
              <a:spcAft>
                <a:spcPts val="0"/>
              </a:spcAft>
              <a:buSzPts val="2250"/>
              <a:buChar char="○"/>
            </a:pPr>
            <a:r>
              <a:rPr lang="en" sz="2250"/>
              <a:t>Underweighting of subtle fraud patterns</a:t>
            </a:r>
            <a:endParaRPr sz="22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58" name="Google Shape;158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7059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Decision Tree-based models effective in classifying positive class of fraud </a:t>
            </a:r>
            <a:r>
              <a:rPr lang="en" b="1"/>
              <a:t>in &lt; 0.2% of data</a:t>
            </a:r>
            <a:endParaRPr b="1"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 b="1"/>
              <a:t>Increases the ability for law enforcement</a:t>
            </a:r>
            <a:r>
              <a:rPr lang="en" sz="1800"/>
              <a:t> to correctly catch frauds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MAXGBoost best model comparing accuracy and precision</a:t>
            </a:r>
            <a:endParaRPr/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MAXGBoost most effective in </a:t>
            </a:r>
            <a:r>
              <a:rPr lang="en" sz="1800" b="1"/>
              <a:t>preventing false accusations of fraud</a:t>
            </a:r>
            <a:r>
              <a:rPr lang="en" sz="1800"/>
              <a:t> and </a:t>
            </a:r>
            <a:r>
              <a:rPr lang="en" sz="1800" b="1"/>
              <a:t>increasing customer satisfaction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Exponential decay XGBoost most effective in </a:t>
            </a:r>
            <a:r>
              <a:rPr lang="en" b="1"/>
              <a:t>catching fraudulent cases</a:t>
            </a:r>
            <a:r>
              <a:rPr lang="en"/>
              <a:t>, compromising false accusations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164" name="Google Shape;164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 b="1"/>
              <a:t>Hybrid Model Development</a:t>
            </a:r>
            <a:endParaRPr sz="2300" b="1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Combine strengths of EGB and MAXGBoost</a:t>
            </a:r>
            <a:endParaRPr sz="23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" sz="2300"/>
              <a:t>Create integrated momentum-decay approach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Feature-specific momentum updates</a:t>
            </a:r>
            <a:endParaRPr sz="2300"/>
          </a:p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en" sz="2300"/>
              <a:t>Class-aware momentum adjustments</a:t>
            </a:r>
            <a:endParaRPr sz="23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24000">
              <a:srgbClr val="E6E6E6"/>
            </a:gs>
            <a:gs pos="63000">
              <a:srgbClr val="F3F3F3"/>
            </a:gs>
            <a:gs pos="78000">
              <a:srgbClr val="D9D9D9"/>
            </a:gs>
            <a:gs pos="94000">
              <a:srgbClr val="B9B9B9"/>
            </a:gs>
            <a:gs pos="100000">
              <a:srgbClr val="999999"/>
            </a:gs>
          </a:gsLst>
          <a:lin ang="2700006" scaled="0"/>
        </a:gra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70" name="Google Shape;170;p3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76" name="Google Shape;176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>
                <a:solidFill>
                  <a:srgbClr val="212529"/>
                </a:solidFill>
              </a:rPr>
              <a:t>Andrej Baranovskij. (2019, March 12). </a:t>
            </a:r>
            <a:r>
              <a:rPr lang="en" sz="1200" i="1">
                <a:solidFill>
                  <a:srgbClr val="212529"/>
                </a:solidFill>
              </a:rPr>
              <a:t>Selecting Optimal Parameters for XGBoost Model Training</a:t>
            </a:r>
            <a:r>
              <a:rPr lang="en" sz="1200">
                <a:solidFill>
                  <a:srgbClr val="212529"/>
                </a:solidFill>
              </a:rPr>
              <a:t>. Medium; Towards Data Science. https://medium.com/towards-data-science/selecting-optimal-parameters-for-xgboost-model-training-c7cd9ed5e45e</a:t>
            </a:r>
            <a:endParaRPr sz="1200">
              <a:solidFill>
                <a:srgbClr val="212529"/>
              </a:solidFill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>
                <a:solidFill>
                  <a:srgbClr val="212529"/>
                </a:solidFill>
              </a:rPr>
              <a:t>Beja-Battais, P. (2023, October 6). </a:t>
            </a:r>
            <a:r>
              <a:rPr lang="en" sz="1200" i="1">
                <a:solidFill>
                  <a:srgbClr val="212529"/>
                </a:solidFill>
              </a:rPr>
              <a:t>Overview of AdaBoost: Reconciling its views to better understand its dynamics</a:t>
            </a:r>
            <a:r>
              <a:rPr lang="en" sz="1200">
                <a:solidFill>
                  <a:srgbClr val="212529"/>
                </a:solidFill>
              </a:rPr>
              <a:t>. ArXiv.org. https://doi.org/10.48550/arXiv.2310.18323</a:t>
            </a:r>
            <a:endParaRPr sz="1200">
              <a:solidFill>
                <a:srgbClr val="212529"/>
              </a:solidFill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>
                <a:solidFill>
                  <a:srgbClr val="212529"/>
                </a:solidFill>
              </a:rPr>
              <a:t>Brownlee, J. (2016, September 15). </a:t>
            </a:r>
            <a:r>
              <a:rPr lang="en" sz="1200" i="1">
                <a:solidFill>
                  <a:srgbClr val="212529"/>
                </a:solidFill>
              </a:rPr>
              <a:t>Tune Learning Rate for Gradient Boosting with XGBoost in Python</a:t>
            </a:r>
            <a:r>
              <a:rPr lang="en" sz="1200">
                <a:solidFill>
                  <a:srgbClr val="212529"/>
                </a:solidFill>
              </a:rPr>
              <a:t>. Machine Learning Mastery. https://machinelearningmastery.com/tune-learning-rate-for-gradient-boosting-with-xgboost-in-python/</a:t>
            </a:r>
            <a:endParaRPr sz="1200">
              <a:solidFill>
                <a:srgbClr val="212529"/>
              </a:solidFill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>
                <a:solidFill>
                  <a:srgbClr val="212529"/>
                </a:solidFill>
              </a:rPr>
              <a:t>Chen, T., &amp; Guestrin, C. (2016). XGBoost: a Scalable Tree Boosting System. </a:t>
            </a:r>
            <a:r>
              <a:rPr lang="en" sz="1200" i="1">
                <a:solidFill>
                  <a:srgbClr val="212529"/>
                </a:solidFill>
              </a:rPr>
              <a:t>Proceedings of the 22nd ACM SIGKDD International Conference on Knowledge Discovery and Data Mining - KDD ’16</a:t>
            </a:r>
            <a:r>
              <a:rPr lang="en" sz="1200">
                <a:solidFill>
                  <a:srgbClr val="212529"/>
                </a:solidFill>
              </a:rPr>
              <a:t>, 785–794. https://doi.org/10.1145/2939672.2939785</a:t>
            </a:r>
            <a:endParaRPr sz="1200">
              <a:solidFill>
                <a:srgbClr val="212529"/>
              </a:solidFill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 i="1">
                <a:solidFill>
                  <a:srgbClr val="212529"/>
                </a:solidFill>
              </a:rPr>
              <a:t>Credit Card Fraud Detection</a:t>
            </a:r>
            <a:r>
              <a:rPr lang="en" sz="1200">
                <a:solidFill>
                  <a:srgbClr val="212529"/>
                </a:solidFill>
              </a:rPr>
              <a:t>. (n.d.). Kaggle. https://www.kaggle.com/datasets/mlg-ulb/creditcardfraud/data</a:t>
            </a:r>
            <a:endParaRPr sz="1200">
              <a:solidFill>
                <a:srgbClr val="212529"/>
              </a:solidFill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>
                <a:solidFill>
                  <a:srgbClr val="212529"/>
                </a:solidFill>
              </a:rPr>
              <a:t>Ke, G., Meng, Q., Finley, T., Wang, T., Chen, W., Ma, W., Ye, Q., &amp; Liu, T.-Y. (2017). </a:t>
            </a:r>
            <a:r>
              <a:rPr lang="en" sz="1200" i="1">
                <a:solidFill>
                  <a:srgbClr val="212529"/>
                </a:solidFill>
              </a:rPr>
              <a:t>LightGBM: A Highly Efficient Gradient Boosting Decision Tree</a:t>
            </a:r>
            <a:r>
              <a:rPr lang="en" sz="1200">
                <a:solidFill>
                  <a:srgbClr val="212529"/>
                </a:solidFill>
              </a:rPr>
              <a:t>. Neural Information Processing Systems; Curran Associates, Inc. https://papers.nips.cc/paper_files/paper/2017/hash/6449f44a102fde848669bdd9eb6b76fa-Abstract.html</a:t>
            </a:r>
            <a:endParaRPr sz="1200">
              <a:solidFill>
                <a:srgbClr val="212529"/>
              </a:solidFill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 i="1">
                <a:solidFill>
                  <a:srgbClr val="212529"/>
                </a:solidFill>
              </a:rPr>
              <a:t>Learning rate</a:t>
            </a:r>
            <a:r>
              <a:rPr lang="en" sz="1200">
                <a:solidFill>
                  <a:srgbClr val="212529"/>
                </a:solidFill>
              </a:rPr>
              <a:t>. (n.d.). Wikipedia. https://en.wikipedia.org/wiki/Learning_rate</a:t>
            </a:r>
            <a:endParaRPr sz="1200">
              <a:solidFill>
                <a:srgbClr val="212529"/>
              </a:solidFill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>
                <a:solidFill>
                  <a:srgbClr val="212529"/>
                </a:solidFill>
              </a:rPr>
              <a:t>Mohan, A. (2021, April 6). </a:t>
            </a:r>
            <a:r>
              <a:rPr lang="en" sz="1200" i="1">
                <a:solidFill>
                  <a:srgbClr val="212529"/>
                </a:solidFill>
              </a:rPr>
              <a:t>IEEE-CIS Fraud Detection - Top 5% Solution - Towards Data Science</a:t>
            </a:r>
            <a:r>
              <a:rPr lang="en" sz="1200">
                <a:solidFill>
                  <a:srgbClr val="212529"/>
                </a:solidFill>
              </a:rPr>
              <a:t>. Medium; Towards Data Science. https://medium.com/towards-data-science/ieee-cis-fraud-detection-top-5-solution-5488fc66e95f</a:t>
            </a:r>
            <a:endParaRPr sz="1200">
              <a:solidFill>
                <a:srgbClr val="212529"/>
              </a:solidFill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>
                <a:solidFill>
                  <a:srgbClr val="212529"/>
                </a:solidFill>
              </a:rPr>
              <a:t>Pedregosa, F., Varoquaux, G., Gramfort, A., Michel, V., Thirion, B., Grisel, O., Blondel, M., Müller, A., Nothman, J., Louppe, G., Prettenhofer, P., Weiss, R., Dubourg, V., Vanderplas, J., Passos, A., Cournapeau, D., Brucher, M., Perrot, M., &amp; Duchesnay, É. (2018). Scikit-learn: Machine Learning in Python. </a:t>
            </a:r>
            <a:r>
              <a:rPr lang="en" sz="1200" i="1">
                <a:solidFill>
                  <a:srgbClr val="212529"/>
                </a:solidFill>
              </a:rPr>
              <a:t>ArXiv:1201.0490 [Cs]</a:t>
            </a:r>
            <a:r>
              <a:rPr lang="en" sz="1200">
                <a:solidFill>
                  <a:srgbClr val="212529"/>
                </a:solidFill>
              </a:rPr>
              <a:t>. https://arxiv.org/abs/1201.0490</a:t>
            </a:r>
            <a:endParaRPr sz="1200">
              <a:solidFill>
                <a:srgbClr val="212529"/>
              </a:solidFill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>
                <a:solidFill>
                  <a:srgbClr val="212529"/>
                </a:solidFill>
              </a:rPr>
              <a:t>Vitaly Bushaev. (2017, December 4). </a:t>
            </a:r>
            <a:r>
              <a:rPr lang="en" sz="1200" i="1">
                <a:solidFill>
                  <a:srgbClr val="212529"/>
                </a:solidFill>
              </a:rPr>
              <a:t>Stochastic Gradient Descent with momentum - Towards Data Science</a:t>
            </a:r>
            <a:r>
              <a:rPr lang="en" sz="1200">
                <a:solidFill>
                  <a:srgbClr val="212529"/>
                </a:solidFill>
              </a:rPr>
              <a:t>. Medium; Towards Data Science. https://medium.com/towards-data-science/stochastic-gradient-descent-with-momentum-a84097641a5d</a:t>
            </a:r>
            <a:endParaRPr sz="1200">
              <a:solidFill>
                <a:srgbClr val="212529"/>
              </a:solidFill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n" sz="1200">
                <a:solidFill>
                  <a:srgbClr val="212529"/>
                </a:solidFill>
              </a:rPr>
              <a:t>Wang, C., Wang, Z., Ouyang, Y., &amp; Soleimani, B. H. (2024, May 27). </a:t>
            </a:r>
            <a:r>
              <a:rPr lang="en" sz="1200" i="1">
                <a:solidFill>
                  <a:srgbClr val="212529"/>
                </a:solidFill>
              </a:rPr>
              <a:t>Adaptive Learning Rates for Gradient Boosting Machines</a:t>
            </a:r>
            <a:r>
              <a:rPr lang="en" sz="1200">
                <a:solidFill>
                  <a:srgbClr val="212529"/>
                </a:solidFill>
              </a:rPr>
              <a:t>. Proceedings of the Canadian Conference on Artificial Intelligence. https://caiac.pubpub.org/pub/py65wd3c/release/1</a:t>
            </a:r>
            <a:endParaRPr sz="1200">
              <a:solidFill>
                <a:srgbClr val="212529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1086</Words>
  <Application>Microsoft Macintosh PowerPoint</Application>
  <PresentationFormat>On-screen Show (16:9)</PresentationFormat>
  <Paragraphs>141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Inter</vt:lpstr>
      <vt:lpstr>Simple Light</vt:lpstr>
      <vt:lpstr>MAXGBoost: A Fast Novel Heuristic Approach to Adaptive Learning Rates in Gradient Boosted Decision Trees</vt:lpstr>
      <vt:lpstr>Fundamentals</vt:lpstr>
      <vt:lpstr>Learning Rate Mechanics</vt:lpstr>
      <vt:lpstr>Learning Rate Optimization</vt:lpstr>
      <vt:lpstr>Introduction to MAXGBoost</vt:lpstr>
      <vt:lpstr>The Dataset</vt:lpstr>
      <vt:lpstr>The Algorithm - Traditional Neural Network</vt:lpstr>
      <vt:lpstr>The Algorithm - Neural Network with Momentum</vt:lpstr>
      <vt:lpstr>The Algorithm - MAXGBoost</vt:lpstr>
      <vt:lpstr>Experiments - Dataset</vt:lpstr>
      <vt:lpstr>Experiments - Models</vt:lpstr>
      <vt:lpstr>Experiments - Hyperparameters</vt:lpstr>
      <vt:lpstr>Results</vt:lpstr>
      <vt:lpstr>Discussion - MAXGBoost Strengths</vt:lpstr>
      <vt:lpstr>Discussion - MAXGBoost Limitations</vt:lpstr>
      <vt:lpstr>Conclusion</vt:lpstr>
      <vt:lpstr>Future Work</vt:lpstr>
      <vt:lpstr>Thanks!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Rezanejad, Vinicius</cp:lastModifiedBy>
  <cp:revision>2</cp:revision>
  <dcterms:modified xsi:type="dcterms:W3CDTF">2025-11-07T16:02:40Z</dcterms:modified>
</cp:coreProperties>
</file>